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Libre Baskerville"/>
      <p:regular r:id="rId24"/>
      <p:bold r:id="rId25"/>
      <p: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IxDNoT1QWIbhZ2++PHypdfKUN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ibreBaskerville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Baskerville-italic.fntdata"/><Relationship Id="rId25" Type="http://schemas.openxmlformats.org/officeDocument/2006/relationships/font" Target="fonts/LibreBaskerville-bold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ded2da6d8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8ded2da6d8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ded2da6d8_0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8ded2da6d8_0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ded2da6d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8ded2da6d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ded2da6d8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8ded2da6d8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ded2da6d8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8ded2da6d8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ded2da6d8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8ded2da6d8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ded2da6d8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8ded2da6d8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ded2da6d8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8ded2da6d8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ded2da6d8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8ded2da6d8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ded2da6d8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8ded2da6d8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ded2da6d8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8ded2da6d8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ded2da6d8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8ded2da6d8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ded2da6d8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8ded2da6d8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ded2da6d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8ded2da6d8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ded2da6d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8ded2da6d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4" name="Google Shape;2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ded2da6d8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8ded2da6d8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" y="0"/>
            <a:ext cx="12190813" cy="685611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4009811"/>
            <a:ext cx="72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</a:rPr>
              <a:t>EMPLOYEE MANAGEMENT SYSTEM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419500" y="5344125"/>
            <a:ext cx="384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Mangali Deepika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Munipavani Angadala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Pragathi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1305025" y="364775"/>
            <a:ext cx="22722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n-IN" sz="2400">
                <a:latin typeface="Arial"/>
                <a:ea typeface="Arial"/>
                <a:cs typeface="Arial"/>
                <a:sym typeface="Arial"/>
              </a:rPr>
              <a:t>Agenda  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30503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/>
              <a:t>Objective of the Project</a:t>
            </a:r>
            <a:endParaRPr sz="2400"/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/>
              <a:t>ER Diagram and schema explanation</a:t>
            </a:r>
            <a:endParaRPr b="1" sz="2400"/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/>
              <a:t>Employee insights</a:t>
            </a:r>
            <a:endParaRPr b="1" sz="2400"/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/>
              <a:t>Job role and department analysis</a:t>
            </a:r>
            <a:endParaRPr b="1" sz="2400"/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/>
              <a:t>Qualification and skills analysis</a:t>
            </a:r>
            <a:endParaRPr b="1" sz="2400"/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/>
              <a:t>Leave and absence patterns</a:t>
            </a:r>
            <a:endParaRPr b="1" sz="2400"/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/>
              <a:t>Payroll and compensation analysis</a:t>
            </a:r>
            <a:endParaRPr b="1" sz="2400"/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/>
              <a:t>Challenges working on SQL – Data Analysis Project.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ded2da6d8_0_47"/>
          <p:cNvSpPr txBox="1"/>
          <p:nvPr/>
        </p:nvSpPr>
        <p:spPr>
          <a:xfrm>
            <a:off x="1103175" y="1550350"/>
            <a:ext cx="93204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To manage and organize employee details, job roles, payroll, and leaves efficiently.</a:t>
            </a:r>
            <a:br>
              <a:rPr lang="en-I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To maintain data consistency through a relational database system.</a:t>
            </a:r>
            <a:br>
              <a:rPr lang="en-I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To automate payroll and salary calculations.</a:t>
            </a:r>
            <a:br>
              <a:rPr lang="en-I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To generate useful reports and insights for management decisions.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2" name="Google Shape;112;g38ded2da6d8_0_47"/>
          <p:cNvSpPr txBox="1"/>
          <p:nvPr/>
        </p:nvSpPr>
        <p:spPr>
          <a:xfrm>
            <a:off x="847825" y="620125"/>
            <a:ext cx="53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IN" sz="2400">
                <a:solidFill>
                  <a:schemeClr val="dk1"/>
                </a:solidFill>
              </a:rPr>
              <a:t>Main Objective of the Project</a:t>
            </a:r>
            <a:endParaRPr b="1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8ded2da6d8_0_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6451" y="1659387"/>
            <a:ext cx="5013901" cy="3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8ded2da6d8_0_184"/>
          <p:cNvSpPr txBox="1"/>
          <p:nvPr/>
        </p:nvSpPr>
        <p:spPr>
          <a:xfrm>
            <a:off x="895775" y="601925"/>
            <a:ext cx="222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</a:rPr>
              <a:t>ER DIAGRAM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19" name="Google Shape;119;g38ded2da6d8_0_184"/>
          <p:cNvSpPr txBox="1"/>
          <p:nvPr/>
        </p:nvSpPr>
        <p:spPr>
          <a:xfrm>
            <a:off x="895775" y="1404025"/>
            <a:ext cx="5487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Represents the relationships between key entities in the Employee Management System.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Shows how employees, departments, salaries, leaves, and qualifications are interconnected.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Helps in understanding the database structure and data flow.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Ensures data integrity through proper primary and foreign key relationships.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Acts as a blueprint for database design and implementation.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ded2da6d8_0_0"/>
          <p:cNvSpPr txBox="1"/>
          <p:nvPr/>
        </p:nvSpPr>
        <p:spPr>
          <a:xfrm>
            <a:off x="1022900" y="1276800"/>
            <a:ext cx="91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1</a:t>
            </a:r>
            <a:r>
              <a:rPr lang="en-IN" sz="1800"/>
              <a:t>.a  How many unique employees are currently in the system?</a:t>
            </a:r>
            <a:endParaRPr sz="1800"/>
          </a:p>
        </p:txBody>
      </p:sp>
      <p:pic>
        <p:nvPicPr>
          <p:cNvPr id="125" name="Google Shape;125;g38ded2da6d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4925" y="2035163"/>
            <a:ext cx="2547025" cy="121286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8ded2da6d8_0_0"/>
          <p:cNvSpPr txBox="1"/>
          <p:nvPr/>
        </p:nvSpPr>
        <p:spPr>
          <a:xfrm>
            <a:off x="1167325" y="3544700"/>
            <a:ext cx="101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1.b  Which departments have the highest number of employees?</a:t>
            </a:r>
            <a:endParaRPr sz="1800"/>
          </a:p>
        </p:txBody>
      </p:sp>
      <p:pic>
        <p:nvPicPr>
          <p:cNvPr id="127" name="Google Shape;127;g38ded2da6d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3475" y="4169461"/>
            <a:ext cx="2309925" cy="19136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8ded2da6d8_0_0"/>
          <p:cNvSpPr txBox="1"/>
          <p:nvPr/>
        </p:nvSpPr>
        <p:spPr>
          <a:xfrm>
            <a:off x="1022900" y="498100"/>
            <a:ext cx="541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IN" sz="2400">
                <a:solidFill>
                  <a:schemeClr val="dk1"/>
                </a:solidFill>
              </a:rPr>
              <a:t>Employee insights</a:t>
            </a:r>
            <a:endParaRPr b="1" sz="2400"/>
          </a:p>
        </p:txBody>
      </p:sp>
      <p:sp>
        <p:nvSpPr>
          <p:cNvPr id="129" name="Google Shape;129;g38ded2da6d8_0_0"/>
          <p:cNvSpPr txBox="1"/>
          <p:nvPr/>
        </p:nvSpPr>
        <p:spPr>
          <a:xfrm>
            <a:off x="1805675" y="20351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COUNT(DISTINCT EmpID) AS </a:t>
            </a:r>
            <a:r>
              <a:rPr lang="en-IN"/>
              <a:t>Total Employees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employee;</a:t>
            </a:r>
            <a:endParaRPr/>
          </a:p>
        </p:txBody>
      </p:sp>
      <p:sp>
        <p:nvSpPr>
          <p:cNvPr id="130" name="Google Shape;130;g38ded2da6d8_0_0"/>
          <p:cNvSpPr txBox="1"/>
          <p:nvPr/>
        </p:nvSpPr>
        <p:spPr>
          <a:xfrm>
            <a:off x="1805675" y="4169450"/>
            <a:ext cx="4942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j.JobDept, COUNT(e.EmpID) AS NumEmployees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employee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jobdepartment j ON e.JobID = j.JobID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j.JobDept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ORDER BY NumEmployees DESC;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ded2da6d8_0_44"/>
          <p:cNvSpPr txBox="1"/>
          <p:nvPr/>
        </p:nvSpPr>
        <p:spPr>
          <a:xfrm>
            <a:off x="1094375" y="437750"/>
            <a:ext cx="539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1.c  What is the average salary per department?</a:t>
            </a:r>
            <a:endParaRPr sz="1800"/>
          </a:p>
        </p:txBody>
      </p:sp>
      <p:sp>
        <p:nvSpPr>
          <p:cNvPr id="136" name="Google Shape;136;g38ded2da6d8_0_44"/>
          <p:cNvSpPr txBox="1"/>
          <p:nvPr/>
        </p:nvSpPr>
        <p:spPr>
          <a:xfrm>
            <a:off x="1513875" y="1039675"/>
            <a:ext cx="4231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j.JobDept, AVG(s.Amount) AS AvgSalary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employee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jobdepartment j ON e.JobID = j.JobID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salary_bonus s ON e.JobID = s.JobID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j.JobDept;</a:t>
            </a:r>
            <a:endParaRPr/>
          </a:p>
        </p:txBody>
      </p:sp>
      <p:pic>
        <p:nvPicPr>
          <p:cNvPr id="137" name="Google Shape;137;g38ded2da6d8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1025" y="644425"/>
            <a:ext cx="2474075" cy="227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8ded2da6d8_0_44"/>
          <p:cNvSpPr txBox="1"/>
          <p:nvPr/>
        </p:nvSpPr>
        <p:spPr>
          <a:xfrm>
            <a:off x="1513875" y="3702300"/>
            <a:ext cx="3939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e.EmpID, e.FirstName, e.LastName, s.Amount AS Salary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employee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salary_bonus s ON e.JobID = s.JobID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ORDER BY s.Amount DESC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LIMIT 5;</a:t>
            </a:r>
            <a:endParaRPr/>
          </a:p>
        </p:txBody>
      </p:sp>
      <p:sp>
        <p:nvSpPr>
          <p:cNvPr id="139" name="Google Shape;139;g38ded2da6d8_0_44"/>
          <p:cNvSpPr txBox="1"/>
          <p:nvPr/>
        </p:nvSpPr>
        <p:spPr>
          <a:xfrm>
            <a:off x="1012325" y="3058500"/>
            <a:ext cx="556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1.d  Who are the top 5 highest-paid employees?</a:t>
            </a:r>
            <a:endParaRPr sz="1800"/>
          </a:p>
        </p:txBody>
      </p:sp>
      <p:pic>
        <p:nvPicPr>
          <p:cNvPr id="140" name="Google Shape;140;g38ded2da6d8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3850" y="3529025"/>
            <a:ext cx="3170525" cy="18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ded2da6d8_0_41"/>
          <p:cNvSpPr txBox="1"/>
          <p:nvPr/>
        </p:nvSpPr>
        <p:spPr>
          <a:xfrm>
            <a:off x="2006325" y="1404425"/>
            <a:ext cx="4012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SUM(s.Amount) AS TotalSalaryExpenditure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employee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salary_bonus s ON e.JobID = s.JobID;</a:t>
            </a:r>
            <a:endParaRPr/>
          </a:p>
        </p:txBody>
      </p:sp>
      <p:sp>
        <p:nvSpPr>
          <p:cNvPr id="146" name="Google Shape;146;g38ded2da6d8_0_41"/>
          <p:cNvSpPr txBox="1"/>
          <p:nvPr/>
        </p:nvSpPr>
        <p:spPr>
          <a:xfrm>
            <a:off x="1112600" y="620125"/>
            <a:ext cx="685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1.e  What is the total salary expenditure across the company?</a:t>
            </a:r>
            <a:endParaRPr sz="1800"/>
          </a:p>
        </p:txBody>
      </p:sp>
      <p:pic>
        <p:nvPicPr>
          <p:cNvPr id="147" name="Google Shape;147;g38ded2da6d8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0525" y="1133525"/>
            <a:ext cx="2875350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ded2da6d8_0_73"/>
          <p:cNvSpPr txBox="1"/>
          <p:nvPr/>
        </p:nvSpPr>
        <p:spPr>
          <a:xfrm>
            <a:off x="1185525" y="1255175"/>
            <a:ext cx="656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2.a  How many different job roles exist in each department?</a:t>
            </a:r>
            <a:endParaRPr sz="1800"/>
          </a:p>
        </p:txBody>
      </p:sp>
      <p:sp>
        <p:nvSpPr>
          <p:cNvPr id="153" name="Google Shape;153;g38ded2da6d8_0_73"/>
          <p:cNvSpPr txBox="1"/>
          <p:nvPr/>
        </p:nvSpPr>
        <p:spPr>
          <a:xfrm>
            <a:off x="1696250" y="1969850"/>
            <a:ext cx="5508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JobDept, COUNT(DISTINCT Name) AS NumJobRoles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jobdepartment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JobDept;</a:t>
            </a:r>
            <a:endParaRPr/>
          </a:p>
        </p:txBody>
      </p:sp>
      <p:pic>
        <p:nvPicPr>
          <p:cNvPr id="154" name="Google Shape;154;g38ded2da6d8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8850" y="1287813"/>
            <a:ext cx="2699425" cy="21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8ded2da6d8_0_73"/>
          <p:cNvSpPr txBox="1"/>
          <p:nvPr/>
        </p:nvSpPr>
        <p:spPr>
          <a:xfrm>
            <a:off x="1696250" y="4001100"/>
            <a:ext cx="439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j.JobDept, AVG(s.Amount) AS AvgSalary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jobdepartment 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salary_bonus s ON j.JobID = s.JobID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j.JobDept;</a:t>
            </a:r>
            <a:endParaRPr/>
          </a:p>
        </p:txBody>
      </p:sp>
      <p:sp>
        <p:nvSpPr>
          <p:cNvPr id="156" name="Google Shape;156;g38ded2da6d8_0_73"/>
          <p:cNvSpPr txBox="1"/>
          <p:nvPr/>
        </p:nvSpPr>
        <p:spPr>
          <a:xfrm>
            <a:off x="1185525" y="3265800"/>
            <a:ext cx="60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2.</a:t>
            </a:r>
            <a:r>
              <a:rPr lang="en-IN" sz="1800">
                <a:solidFill>
                  <a:schemeClr val="dk1"/>
                </a:solidFill>
              </a:rPr>
              <a:t>b  What is the average salary range per department?</a:t>
            </a:r>
            <a:endParaRPr sz="1800"/>
          </a:p>
        </p:txBody>
      </p:sp>
      <p:pic>
        <p:nvPicPr>
          <p:cNvPr id="157" name="Google Shape;157;g38ded2da6d8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8850" y="3727500"/>
            <a:ext cx="2565250" cy="19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8ded2da6d8_0_73"/>
          <p:cNvSpPr txBox="1"/>
          <p:nvPr/>
        </p:nvSpPr>
        <p:spPr>
          <a:xfrm>
            <a:off x="1185525" y="485000"/>
            <a:ext cx="59277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 role and department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ded2da6d8_0_38"/>
          <p:cNvSpPr txBox="1"/>
          <p:nvPr/>
        </p:nvSpPr>
        <p:spPr>
          <a:xfrm>
            <a:off x="1942525" y="1313250"/>
            <a:ext cx="3702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Name AS JobRole, MAX(s.Amount) AS MaxSalary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jobdepartment 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salary_bonus s ON j.JobID = s.JobID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ORDER BY MaxSalary DESC;</a:t>
            </a:r>
            <a:endParaRPr/>
          </a:p>
        </p:txBody>
      </p:sp>
      <p:sp>
        <p:nvSpPr>
          <p:cNvPr id="164" name="Google Shape;164;g38ded2da6d8_0_38"/>
          <p:cNvSpPr txBox="1"/>
          <p:nvPr/>
        </p:nvSpPr>
        <p:spPr>
          <a:xfrm>
            <a:off x="1404425" y="736175"/>
            <a:ext cx="5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2.c  Which job roles offer the highest salary?</a:t>
            </a:r>
            <a:endParaRPr sz="1800"/>
          </a:p>
        </p:txBody>
      </p:sp>
      <p:pic>
        <p:nvPicPr>
          <p:cNvPr id="165" name="Google Shape;165;g38ded2da6d8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975" y="736175"/>
            <a:ext cx="2818586" cy="216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8ded2da6d8_0_38"/>
          <p:cNvSpPr txBox="1"/>
          <p:nvPr/>
        </p:nvSpPr>
        <p:spPr>
          <a:xfrm>
            <a:off x="1942525" y="4012675"/>
            <a:ext cx="435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j.JobDept, SUM(s.Amount) AS TotalSalary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jobdepartment 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salary_bonus s ON j.JobID = s.JobID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j.JobDept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ORDER BY TotalSalary DESC;</a:t>
            </a:r>
            <a:endParaRPr/>
          </a:p>
        </p:txBody>
      </p:sp>
      <p:sp>
        <p:nvSpPr>
          <p:cNvPr id="167" name="Google Shape;167;g38ded2da6d8_0_38"/>
          <p:cNvSpPr txBox="1"/>
          <p:nvPr/>
        </p:nvSpPr>
        <p:spPr>
          <a:xfrm>
            <a:off x="1404425" y="3210125"/>
            <a:ext cx="71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2.d  Which departments have the highest total salary allocation?</a:t>
            </a:r>
            <a:endParaRPr sz="1800"/>
          </a:p>
        </p:txBody>
      </p:sp>
      <p:pic>
        <p:nvPicPr>
          <p:cNvPr id="168" name="Google Shape;168;g38ded2da6d8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9975" y="3671825"/>
            <a:ext cx="2729425" cy="225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ded2da6d8_0_35"/>
          <p:cNvSpPr txBox="1"/>
          <p:nvPr/>
        </p:nvSpPr>
        <p:spPr>
          <a:xfrm>
            <a:off x="1805700" y="4119088"/>
            <a:ext cx="4760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Position, COUNT(QualID) AS NumQualifications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qualification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ORDER BY NumQualifications DESC;</a:t>
            </a:r>
            <a:endParaRPr/>
          </a:p>
        </p:txBody>
      </p:sp>
      <p:sp>
        <p:nvSpPr>
          <p:cNvPr id="174" name="Google Shape;174;g38ded2da6d8_0_35"/>
          <p:cNvSpPr txBox="1"/>
          <p:nvPr/>
        </p:nvSpPr>
        <p:spPr>
          <a:xfrm>
            <a:off x="1185550" y="1372500"/>
            <a:ext cx="69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3.a  How many employees have at least one qualification listed?</a:t>
            </a:r>
            <a:endParaRPr sz="1800"/>
          </a:p>
        </p:txBody>
      </p:sp>
      <p:sp>
        <p:nvSpPr>
          <p:cNvPr id="175" name="Google Shape;175;g38ded2da6d8_0_35"/>
          <p:cNvSpPr txBox="1"/>
          <p:nvPr/>
        </p:nvSpPr>
        <p:spPr>
          <a:xfrm>
            <a:off x="1805700" y="1915100"/>
            <a:ext cx="567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SELECT COUNT(DISTINCT EmpID) AS EmployeesWithQualification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FROM qualification;</a:t>
            </a:r>
            <a:endParaRPr/>
          </a:p>
        </p:txBody>
      </p:sp>
      <p:sp>
        <p:nvSpPr>
          <p:cNvPr id="176" name="Google Shape;176;g38ded2da6d8_0_35"/>
          <p:cNvSpPr txBox="1"/>
          <p:nvPr/>
        </p:nvSpPr>
        <p:spPr>
          <a:xfrm>
            <a:off x="1294950" y="3198150"/>
            <a:ext cx="57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3.b  Which positions require the most qualifications?</a:t>
            </a:r>
            <a:endParaRPr sz="1800"/>
          </a:p>
        </p:txBody>
      </p:sp>
      <p:pic>
        <p:nvPicPr>
          <p:cNvPr id="177" name="Google Shape;177;g38ded2da6d8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8100" y="3666125"/>
            <a:ext cx="2838925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8ded2da6d8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4200" y="2049727"/>
            <a:ext cx="180022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8ded2da6d8_0_35"/>
          <p:cNvSpPr txBox="1"/>
          <p:nvPr/>
        </p:nvSpPr>
        <p:spPr>
          <a:xfrm>
            <a:off x="1185550" y="517850"/>
            <a:ext cx="6219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Qualification and skills analysis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ded2da6d8_0_32"/>
          <p:cNvSpPr txBox="1"/>
          <p:nvPr/>
        </p:nvSpPr>
        <p:spPr>
          <a:xfrm>
            <a:off x="1933375" y="1605050"/>
            <a:ext cx="399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e.EmpID, e.FirstName, e.LastName, COUNT(q.QualID) AS NumQualifications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employee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qualification q ON e.EmpID = q.EmpID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e.EmpID, e.FirstName, e.LastName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ORDER BY NumQualifications DESC;</a:t>
            </a:r>
            <a:endParaRPr/>
          </a:p>
        </p:txBody>
      </p:sp>
      <p:sp>
        <p:nvSpPr>
          <p:cNvPr id="185" name="Google Shape;185;g38ded2da6d8_0_32"/>
          <p:cNvSpPr txBox="1"/>
          <p:nvPr/>
        </p:nvSpPr>
        <p:spPr>
          <a:xfrm>
            <a:off x="1313225" y="752325"/>
            <a:ext cx="713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3.c  Which employees have the highest number of qualifications?</a:t>
            </a:r>
            <a:endParaRPr sz="1800"/>
          </a:p>
        </p:txBody>
      </p:sp>
      <p:pic>
        <p:nvPicPr>
          <p:cNvPr id="186" name="Google Shape;186;g38ded2da6d8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3500" y="1567513"/>
            <a:ext cx="300037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ded2da6d8_0_29"/>
          <p:cNvSpPr txBox="1"/>
          <p:nvPr/>
        </p:nvSpPr>
        <p:spPr>
          <a:xfrm>
            <a:off x="1732725" y="3520200"/>
            <a:ext cx="4883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j.JobDept, AVG(LeaveCount) AS AvgLeaves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</a:t>
            </a:r>
            <a:r>
              <a:rPr lang="en-IN"/>
              <a:t>  </a:t>
            </a:r>
            <a:r>
              <a:rPr lang="en-IN"/>
              <a:t>SELECT e.EmpID, e.JobID, COUNT(l.LeaveID) AS LeaveCount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FROM employee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LEFT JOIN leaves l ON e.EmpID = l.EmpID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GROUP BY e.EmpID, e.JobID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) AS emp_leaves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jobdepartment j ON emp_leaves.JobID = j.JobID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j.JobDept;</a:t>
            </a:r>
            <a:endParaRPr/>
          </a:p>
        </p:txBody>
      </p:sp>
      <p:sp>
        <p:nvSpPr>
          <p:cNvPr id="192" name="Google Shape;192;g38ded2da6d8_0_29"/>
          <p:cNvSpPr txBox="1"/>
          <p:nvPr/>
        </p:nvSpPr>
        <p:spPr>
          <a:xfrm>
            <a:off x="1732725" y="1480450"/>
            <a:ext cx="4104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SELECT SUBSTRING(Date, 1, 4) AS Year, COUNT(DISTINCT EmpID) AS NumEmployees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FROM leaves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GROUP BY Year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ORDER BY NumEmployees DESC;</a:t>
            </a:r>
            <a:endParaRPr/>
          </a:p>
        </p:txBody>
      </p:sp>
      <p:sp>
        <p:nvSpPr>
          <p:cNvPr id="193" name="Google Shape;193;g38ded2da6d8_0_29"/>
          <p:cNvSpPr txBox="1"/>
          <p:nvPr/>
        </p:nvSpPr>
        <p:spPr>
          <a:xfrm>
            <a:off x="1144350" y="1080250"/>
            <a:ext cx="58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4.a  Which year had the most employees taking leaves?</a:t>
            </a:r>
            <a:endParaRPr sz="1800"/>
          </a:p>
        </p:txBody>
      </p:sp>
      <p:sp>
        <p:nvSpPr>
          <p:cNvPr id="194" name="Google Shape;194;g38ded2da6d8_0_29"/>
          <p:cNvSpPr txBox="1"/>
          <p:nvPr/>
        </p:nvSpPr>
        <p:spPr>
          <a:xfrm>
            <a:off x="1144350" y="2900525"/>
            <a:ext cx="56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4.b  Average number of leave days per department</a:t>
            </a:r>
            <a:endParaRPr sz="1800"/>
          </a:p>
        </p:txBody>
      </p:sp>
      <p:pic>
        <p:nvPicPr>
          <p:cNvPr id="195" name="Google Shape;195;g38ded2da6d8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600" y="1744650"/>
            <a:ext cx="2114050" cy="7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8ded2da6d8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7600" y="3520200"/>
            <a:ext cx="2205250" cy="192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8ded2da6d8_0_29"/>
          <p:cNvSpPr txBox="1"/>
          <p:nvPr/>
        </p:nvSpPr>
        <p:spPr>
          <a:xfrm>
            <a:off x="1144350" y="344175"/>
            <a:ext cx="4434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Leave and absence patterns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ded2da6d8_0_126"/>
          <p:cNvSpPr txBox="1"/>
          <p:nvPr/>
        </p:nvSpPr>
        <p:spPr>
          <a:xfrm>
            <a:off x="1595900" y="4049150"/>
            <a:ext cx="408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COUNT(LeaveID) AS TotalLeaves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leaves;</a:t>
            </a:r>
            <a:endParaRPr/>
          </a:p>
        </p:txBody>
      </p:sp>
      <p:sp>
        <p:nvSpPr>
          <p:cNvPr id="203" name="Google Shape;203;g38ded2da6d8_0_126"/>
          <p:cNvSpPr txBox="1"/>
          <p:nvPr/>
        </p:nvSpPr>
        <p:spPr>
          <a:xfrm>
            <a:off x="1112600" y="729575"/>
            <a:ext cx="5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4.c  Employees who have taken the most leaves</a:t>
            </a:r>
            <a:endParaRPr sz="1800"/>
          </a:p>
        </p:txBody>
      </p:sp>
      <p:sp>
        <p:nvSpPr>
          <p:cNvPr id="204" name="Google Shape;204;g38ded2da6d8_0_126"/>
          <p:cNvSpPr txBox="1"/>
          <p:nvPr/>
        </p:nvSpPr>
        <p:spPr>
          <a:xfrm>
            <a:off x="1659800" y="1459150"/>
            <a:ext cx="4085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SELECT e.EmpID, e.FirstName, e.LastName, COUNT(l.LeaveID) AS NumLeaves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FROM employee 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JOIN leaves l ON e.EmpID = l.EmpID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GROUP BY e.EmpID, e.FirstName, e.LastName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ORDER BY NumLeaves DESC;</a:t>
            </a:r>
            <a:endParaRPr/>
          </a:p>
        </p:txBody>
      </p:sp>
      <p:sp>
        <p:nvSpPr>
          <p:cNvPr id="205" name="Google Shape;205;g38ded2da6d8_0_126"/>
          <p:cNvSpPr txBox="1"/>
          <p:nvPr/>
        </p:nvSpPr>
        <p:spPr>
          <a:xfrm>
            <a:off x="1112600" y="3204525"/>
            <a:ext cx="52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4.d  Total number of leave days company-wide</a:t>
            </a:r>
            <a:endParaRPr sz="1800"/>
          </a:p>
        </p:txBody>
      </p:sp>
      <p:pic>
        <p:nvPicPr>
          <p:cNvPr id="206" name="Google Shape;206;g38ded2da6d8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675" y="1191278"/>
            <a:ext cx="3166071" cy="14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8ded2da6d8_0_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1650" y="3830280"/>
            <a:ext cx="2819500" cy="8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ded2da6d8_0_17"/>
          <p:cNvSpPr txBox="1"/>
          <p:nvPr/>
        </p:nvSpPr>
        <p:spPr>
          <a:xfrm>
            <a:off x="1815200" y="1623300"/>
            <a:ext cx="4295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e.EmpID, e.FirstName, e.LastName, COUNT(l.LeaveID) AS NumLeaves, SUM(p.TotalAmount) AS TotalPayroll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employee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LEFT JOIN leaves l ON e.EmpID = l.EmpID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LEFT JOIN payroll p ON e.EmpID = p.EmpID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e.EmpID, e.FirstName, e.LastName;</a:t>
            </a:r>
            <a:endParaRPr/>
          </a:p>
        </p:txBody>
      </p:sp>
      <p:sp>
        <p:nvSpPr>
          <p:cNvPr id="213" name="Google Shape;213;g38ded2da6d8_0_17"/>
          <p:cNvSpPr txBox="1"/>
          <p:nvPr/>
        </p:nvSpPr>
        <p:spPr>
          <a:xfrm>
            <a:off x="1130850" y="711350"/>
            <a:ext cx="645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4.e  Correlation between leave days and payroll amounts</a:t>
            </a:r>
            <a:endParaRPr sz="1800"/>
          </a:p>
        </p:txBody>
      </p:sp>
      <p:pic>
        <p:nvPicPr>
          <p:cNvPr id="214" name="Google Shape;214;g38ded2da6d8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2875" y="1422975"/>
            <a:ext cx="3409950" cy="20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ded2da6d8_0_26"/>
          <p:cNvSpPr txBox="1"/>
          <p:nvPr/>
        </p:nvSpPr>
        <p:spPr>
          <a:xfrm>
            <a:off x="1787475" y="1721013"/>
            <a:ext cx="4067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SUBSTRING(Date, 1, 7) AS Month, SUM(TotalAmount) AS TotalPayroll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payroll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Month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ORDER BY Month;</a:t>
            </a:r>
            <a:endParaRPr/>
          </a:p>
        </p:txBody>
      </p:sp>
      <p:sp>
        <p:nvSpPr>
          <p:cNvPr id="220" name="Google Shape;220;g38ded2da6d8_0_26"/>
          <p:cNvSpPr txBox="1"/>
          <p:nvPr/>
        </p:nvSpPr>
        <p:spPr>
          <a:xfrm>
            <a:off x="1367950" y="1076125"/>
            <a:ext cx="43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5.a  Total monthly payroll processed</a:t>
            </a:r>
            <a:endParaRPr sz="1800"/>
          </a:p>
        </p:txBody>
      </p:sp>
      <p:pic>
        <p:nvPicPr>
          <p:cNvPr id="221" name="Google Shape;221;g38ded2da6d8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725" y="1849537"/>
            <a:ext cx="2930050" cy="10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8ded2da6d8_0_26"/>
          <p:cNvSpPr txBox="1"/>
          <p:nvPr/>
        </p:nvSpPr>
        <p:spPr>
          <a:xfrm>
            <a:off x="1732750" y="4025700"/>
            <a:ext cx="4213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j.JobDept, AVG(s.Bonus) AS AvgBonus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employee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jobdepartment j ON e.JobID = j.JobID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JOIN salary_bonus s ON e.JobID = s.JobID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BY j.JobDept;</a:t>
            </a:r>
            <a:endParaRPr/>
          </a:p>
        </p:txBody>
      </p:sp>
      <p:sp>
        <p:nvSpPr>
          <p:cNvPr id="223" name="Google Shape;223;g38ded2da6d8_0_26"/>
          <p:cNvSpPr txBox="1"/>
          <p:nvPr/>
        </p:nvSpPr>
        <p:spPr>
          <a:xfrm>
            <a:off x="1367950" y="3381600"/>
            <a:ext cx="45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5.b  Average bonus given per department</a:t>
            </a:r>
            <a:endParaRPr sz="1800"/>
          </a:p>
        </p:txBody>
      </p:sp>
      <p:pic>
        <p:nvPicPr>
          <p:cNvPr id="224" name="Google Shape;224;g38ded2da6d8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8725" y="3593150"/>
            <a:ext cx="2656450" cy="20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8ded2da6d8_0_26"/>
          <p:cNvSpPr txBox="1"/>
          <p:nvPr/>
        </p:nvSpPr>
        <p:spPr>
          <a:xfrm>
            <a:off x="1367950" y="455975"/>
            <a:ext cx="5216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Payroll and compensation analysis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ded2da6d8_0_23"/>
          <p:cNvSpPr txBox="1"/>
          <p:nvPr/>
        </p:nvSpPr>
        <p:spPr>
          <a:xfrm>
            <a:off x="1773450" y="3957950"/>
            <a:ext cx="43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SELECT AVG(TotalAmount) AS AvgTotalAmount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FROM payroll;</a:t>
            </a:r>
            <a:endParaRPr/>
          </a:p>
        </p:txBody>
      </p:sp>
      <p:sp>
        <p:nvSpPr>
          <p:cNvPr id="231" name="Google Shape;231;g38ded2da6d8_0_23"/>
          <p:cNvSpPr txBox="1"/>
          <p:nvPr/>
        </p:nvSpPr>
        <p:spPr>
          <a:xfrm>
            <a:off x="1089550" y="638375"/>
            <a:ext cx="633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5.c  Which department receives the highest total bonuses?</a:t>
            </a:r>
            <a:endParaRPr sz="1800"/>
          </a:p>
        </p:txBody>
      </p:sp>
      <p:sp>
        <p:nvSpPr>
          <p:cNvPr id="232" name="Google Shape;232;g38ded2da6d8_0_23"/>
          <p:cNvSpPr txBox="1"/>
          <p:nvPr/>
        </p:nvSpPr>
        <p:spPr>
          <a:xfrm>
            <a:off x="1682400" y="1313225"/>
            <a:ext cx="4413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SELECT j.JobDept, SUM(s.Bonus) AS TotalBonus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FROM employee 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JOIN jobdepartment j ON e.JobID = j.JobID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JOIN salary_bonus s ON e.JobID = s.JobID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GROUP BY j.JobDept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ORDER BY TotalBonus DESC;</a:t>
            </a:r>
            <a:endParaRPr/>
          </a:p>
        </p:txBody>
      </p:sp>
      <p:sp>
        <p:nvSpPr>
          <p:cNvPr id="233" name="Google Shape;233;g38ded2da6d8_0_23"/>
          <p:cNvSpPr txBox="1"/>
          <p:nvPr/>
        </p:nvSpPr>
        <p:spPr>
          <a:xfrm>
            <a:off x="1089550" y="3228350"/>
            <a:ext cx="74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5.d  Average value of total_amount after considering leave deductions</a:t>
            </a:r>
            <a:endParaRPr sz="1800"/>
          </a:p>
        </p:txBody>
      </p:sp>
      <p:pic>
        <p:nvPicPr>
          <p:cNvPr id="234" name="Google Shape;234;g38ded2da6d8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4750" y="803800"/>
            <a:ext cx="2674725" cy="19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8ded2da6d8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4750" y="3957950"/>
            <a:ext cx="2273450" cy="938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ded2da6d8_0_20"/>
          <p:cNvSpPr txBox="1"/>
          <p:nvPr/>
        </p:nvSpPr>
        <p:spPr>
          <a:xfrm>
            <a:off x="1167325" y="1349700"/>
            <a:ext cx="99588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●     Defining correct table relationships and ensuring accurate use of foreign keys.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●     Maintaining data consistency with cascading updates and deletes.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●     Writing complex joins for reports involving employee roles, leaves, and payroll.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●     Ensuring all date fields follow the YYYY-MM-DD format for reliable time-based analysis.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●     Preventing duplicate entries using unique constraints, especially on email fields.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1" name="Google Shape;241;g38ded2da6d8_0_20"/>
          <p:cNvSpPr txBox="1"/>
          <p:nvPr/>
        </p:nvSpPr>
        <p:spPr>
          <a:xfrm>
            <a:off x="1167325" y="5585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IN" sz="2400">
                <a:solidFill>
                  <a:schemeClr val="dk1"/>
                </a:solidFill>
              </a:rPr>
              <a:t>Challenges</a:t>
            </a:r>
            <a:endParaRPr b="1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5"/>
          <p:cNvSpPr txBox="1"/>
          <p:nvPr/>
        </p:nvSpPr>
        <p:spPr>
          <a:xfrm>
            <a:off x="1244600" y="2632400"/>
            <a:ext cx="366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b="0" i="0" lang="en-IN" sz="4400" u="none" cap="none" strike="noStrik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2021-02-16T05:19:01Z</dcterms:created>
  <dc:creator>Raghu Ram Aduri</dc:creator>
</cp:coreProperties>
</file>